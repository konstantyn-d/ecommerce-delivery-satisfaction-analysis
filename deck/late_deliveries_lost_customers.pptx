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93ca81b6-052e-2fc8-88d9-bbbc9b14fcba}">
          <p14:sldIdLst>
            <p14:sldId id="256"/>
            <p14:sldId id="257"/>
          </p14:sldIdLst>
        </p14:section>
        <p14:section name="Context and approach" id="{c291f546-e6b6-8c30-1dc8-9ed6d97f27c3}">
          <p14:sldIdLst>
            <p14:sldId id="258"/>
            <p14:sldId id="259"/>
          </p14:sldIdLst>
        </p14:section>
        <p14:section name="Findings" id="{6b77cc82-b370-6bba-e255-1195237c1122}">
          <p14:sldIdLst>
            <p14:sldId id="260"/>
            <p14:sldId id="261"/>
            <p14:sldId id="262"/>
          </p14:sldIdLst>
        </p14:section>
        <p14:section name="What to do" id="{dbfe0486-1351-c8b3-048c-573d3640e104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7280"/>
                </a:solidFill>
                <a:latin typeface="Calibri"/>
              </a:rPr>
              <a:t>Share of reviewed orders with a 1-2 star review, by delivery outcome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1-2 star reviews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On time</c:v>
                  </c:pt>
                  <c:pt idx="1">
                    <c:v>1-3 days late</c:v>
                  </c:pt>
                  <c:pt idx="2">
                    <c:v>4-7 days late</c:v>
                  </c:pt>
                  <c:pt idx="3">
                    <c:v>8-14 days late</c:v>
                  </c:pt>
                  <c:pt idx="4">
                    <c:v>15+ days late</c:v>
                  </c:pt>
                  <c:pt idx="5">
                    <c:v>Not delivered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0.0924738175865085</c:v>
                </c:pt>
                <c:pt idx="1">
                  <c:v>0.32144786601836844</c:v>
                </c:pt>
                <c:pt idx="2">
                  <c:v>0.6767734553775744</c:v>
                </c:pt>
                <c:pt idx="3">
                  <c:v>0.8015214384508991</c:v>
                </c:pt>
                <c:pt idx="4">
                  <c:v>0.7831957989497375</c:v>
                </c:pt>
                <c:pt idx="5">
                  <c:v>0.779507603186097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7280"/>
                </a:solidFill>
                <a:latin typeface="Calibri"/>
              </a:rPr>
              <a:t>Late rate by customer state, states with 1,000+ orders (national: 6.8%)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</c:v>
                </c:pt>
              </c:strCache>
            </c:strRef>
          </c:tx>
          <c:spPr>
            <a:solidFill>
              <a:srgbClr val="A8A7A0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A7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A7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A7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A7A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A7A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8A7A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8A7A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8A7A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A8A7A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A8A7A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A8A7A0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Parana</c:v>
                  </c:pt>
                  <c:pt idx="1">
                    <c:v>Sao Paulo</c:v>
                  </c:pt>
                  <c:pt idx="2">
                    <c:v>Minas Gerais</c:v>
                  </c:pt>
                  <c:pt idx="3">
                    <c:v>Distrito Federal</c:v>
                  </c:pt>
                  <c:pt idx="4">
                    <c:v>Rio Grande do Sul</c:v>
                  </c:pt>
                  <c:pt idx="5">
                    <c:v>Goias</c:v>
                  </c:pt>
                  <c:pt idx="6">
                    <c:v>Santa Catarina</c:v>
                  </c:pt>
                  <c:pt idx="7">
                    <c:v>Pernambuco</c:v>
                  </c:pt>
                  <c:pt idx="8">
                    <c:v>Espirito Santo</c:v>
                  </c:pt>
                  <c:pt idx="9">
                    <c:v>Rio de Janeiro</c:v>
                  </c:pt>
                  <c:pt idx="10">
                    <c:v>Bahia</c:v>
                  </c:pt>
                  <c:pt idx="11">
                    <c:v>Ceara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0.0405873954721599</c:v>
                </c:pt>
                <c:pt idx="1">
                  <c:v>0.044976360801009925</c:v>
                </c:pt>
                <c:pt idx="2">
                  <c:v>0.04585210707659687</c:v>
                </c:pt>
                <c:pt idx="3">
                  <c:v>0.05689488910318226</c:v>
                </c:pt>
                <c:pt idx="4">
                  <c:v>0.06100994931481134</c:v>
                </c:pt>
                <c:pt idx="5">
                  <c:v>0.06564102564102564</c:v>
                </c:pt>
                <c:pt idx="6">
                  <c:v>0.08227311280746395</c:v>
                </c:pt>
                <c:pt idx="7">
                  <c:v>0.09640831758034027</c:v>
                </c:pt>
                <c:pt idx="8">
                  <c:v>0.10742971887550201</c:v>
                </c:pt>
                <c:pt idx="9">
                  <c:v>0.12144597887896019</c:v>
                </c:pt>
                <c:pt idx="10">
                  <c:v>0.12173378419920074</c:v>
                </c:pt>
                <c:pt idx="11">
                  <c:v>0.13825608798114689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7280"/>
                </a:solidFill>
                <a:latin typeface="Calibri"/>
              </a:rPr>
              <a:t>Main complaint in 1-2 star reviews, by delivery outcome (number of reviews)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received or late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[&gt;=0.05]0%;&quot;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On time, single item (126)</c:v>
                  </c:pt>
                  <c:pt idx="1">
                    <c:v>On time, several items (54)</c:v>
                  </c:pt>
                  <c:pt idx="2">
                    <c:v>Not delivered (43)</c:v>
                  </c:pt>
                  <c:pt idx="3">
                    <c:v>Late (77)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0.10317460317460317</c:v>
                </c:pt>
                <c:pt idx="1">
                  <c:v>0.037037037037037035</c:v>
                </c:pt>
                <c:pt idx="2">
                  <c:v>0.7674418604651163</c:v>
                </c:pt>
                <c:pt idx="3">
                  <c:v>0.7662337662337663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 of the order missing</c:v>
                </c:pt>
              </c:strCache>
            </c:strRef>
          </c:tx>
          <c:spPr>
            <a:solidFill>
              <a:srgbClr val="16202A"/>
            </a:solidFill>
            <a:effectLst/>
          </c:spPr>
          <c:invertIfNegative val="0"/>
          <c:dLbls>
            <c:numFmt formatCode="[&gt;=0.05]0%;&quot;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On time, single item (126)</c:v>
                  </c:pt>
                  <c:pt idx="1">
                    <c:v>On time, several items (54)</c:v>
                  </c:pt>
                  <c:pt idx="2">
                    <c:v>Not delivered (43)</c:v>
                  </c:pt>
                  <c:pt idx="3">
                    <c:v>Late (77)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0.07936507936507936</c:v>
                </c:pt>
                <c:pt idx="1">
                  <c:v>0.8148148148148148</c:v>
                </c:pt>
                <c:pt idx="2">
                  <c:v>0</c:v>
                </c:pt>
                <c:pt idx="3">
                  <c:v>0.03896103896103896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Wrong, damaged or poor product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[&gt;=0.05]0%;&quot;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On time, single item (126)</c:v>
                  </c:pt>
                  <c:pt idx="1">
                    <c:v>On time, several items (54)</c:v>
                  </c:pt>
                  <c:pt idx="2">
                    <c:v>Not delivered (43)</c:v>
                  </c:pt>
                  <c:pt idx="3">
                    <c:v>Late (77)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0.6587301587301587</c:v>
                </c:pt>
                <c:pt idx="1">
                  <c:v>0.12962962962962962</c:v>
                </c:pt>
                <c:pt idx="2">
                  <c:v>0.023255813953488372</c:v>
                </c:pt>
                <c:pt idx="3">
                  <c:v>0.07792207792207792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Service or unclear</c:v>
                </c:pt>
              </c:strCache>
            </c:strRef>
          </c:tx>
          <c:spPr>
            <a:solidFill>
              <a:srgbClr val="A8A7A0"/>
            </a:solidFill>
            <a:effectLst/>
          </c:spPr>
          <c:invertIfNegative val="0"/>
          <c:dLbls>
            <c:numFmt formatCode="[&gt;=0.05]0%;&quot;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On time, single item (126)</c:v>
                  </c:pt>
                  <c:pt idx="1">
                    <c:v>On time, several items (54)</c:v>
                  </c:pt>
                  <c:pt idx="2">
                    <c:v>Not delivered (43)</c:v>
                  </c:pt>
                  <c:pt idx="3">
                    <c:v>Late (77)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0.15873015873015872</c:v>
                </c:pt>
                <c:pt idx="1">
                  <c:v>0.018518518518518517</c:v>
                </c:pt>
                <c:pt idx="2">
                  <c:v>0.20930232558139536</c:v>
                </c:pt>
                <c:pt idx="3">
                  <c:v>0.11688311688311688</c:v>
                </c:pt>
              </c:numCache>
            </c:numRef>
          </c:val>
        </c:ser>
        <c:dLbls>
          <c:numFmt formatCode="[&gt;=0.05]0%;&quot;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F2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7280"/>
                </a:solidFill>
                <a:latin typeface="Calibri"/>
              </a:rPr>
              <a:t>Estimated 1-2 star reviews avoided over 20 months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case (50% of the gap is real)</c:v>
                </c:pt>
              </c:strCache>
            </c:strRef>
          </c:tx>
          <c:spPr>
            <a:solidFill>
              <a:srgbClr val="A8A7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 Five worst states reach the national late rate</c:v>
                  </c:pt>
                  <c:pt idx="1">
                    <c:v>B  Several-item orders reviewed like single-item orders</c:v>
                  </c:pt>
                  <c:pt idx="2">
                    <c:v>A + 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305</c:v>
                </c:pt>
                <c:pt idx="1">
                  <c:v>768</c:v>
                </c:pt>
                <c:pt idx="2">
                  <c:v>1072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case (75%)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 Five worst states reach the national late rate</c:v>
                  </c:pt>
                  <c:pt idx="1">
                    <c:v>B  Several-item orders reviewed like single-item orders</c:v>
                  </c:pt>
                  <c:pt idx="2">
                    <c:v>A + 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457</c:v>
                </c:pt>
                <c:pt idx="1">
                  <c:v>1151</c:v>
                </c:pt>
                <c:pt idx="2">
                  <c:v>1609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case (100%)</c:v>
                </c:pt>
              </c:strCache>
            </c:strRef>
          </c:tx>
          <c:spPr>
            <a:solidFill>
              <a:srgbClr val="162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 Five worst states reach the national late rate</c:v>
                  </c:pt>
                  <c:pt idx="1">
                    <c:v>B  Several-item orders reviewed like single-item orders</c:v>
                  </c:pt>
                  <c:pt idx="2">
                    <c:v>A + B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610</c:v>
                </c:pt>
                <c:pt idx="1">
                  <c:v>1535</c:v>
                </c:pt>
                <c:pt idx="2">
                  <c:v>2145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F2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The headline number is the share of reviewed orders with a 1-2 star review (docs/kpi_baseline.md).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summary. Situation and complication: docs/analysis_findings.md section 1. Review coding: review_coding/findings.md. Scenario: docs/scenario.md.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Context. All six figures: docs/kpi_baseline.md. Definitions: docs/metric_definitions.md. 'One in seven' = 14.6%.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Approach. Steps and counts: docs/decision_log.md (32 decisions), docs/model_validation_report.md (37 tests), docs/metric_definitions.md (13 KPIs), docs/analysis_findings.md (12 hypotheses), review_coding/sampling_report.md (300 of 10,636), docs/scenario.md.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1. Chart: docs/analysis_results.md table A2. Shares: table A1. Gap by region: G1. Monthly correlation: A7. Wording: 'strongest driver', an association in observational data, see docs/analysis_findings.md section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2. Chart: docs/analysis_results.md table D2 (states with 1,000+ orders shown). Transit and handover: tables A6 and C5. Seller concentration: table C3.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3. Review coding: review_coding/results.md and findings.md. 300 reviews, coded blind to delivery outcome, one coder; a second pass on 30 reviews gave the same category (consistency check, not independent validation). Groups have 43 to 126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Scenario. docs/scenario.md and docs/scenario_results.md. Method: orders that move to the better group are assumed to be reviewed like that group, times a factor for how much of the observed gap is real (50%, 75%, 100%). An estimate, not a measured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Recommendations. Impact figures from the scenario (docs/scenario.md). Effort levels and owners are assumptions: Olist's costs and organisation are not in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and next steps. docs/analysis_findings.md sections 5 and 7, docs/scenario.md section 6, review_coding/findings.md section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67665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6766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and satisfaction analysis  |  Source: Olist public dataset, orders purchased January 2017 to August 2018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and satisfaction analysis  |  Source: Olist public dataset, orders purchased January 2017 to August 2018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Deliveries, Lost Customers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Olist customers give bad reviews, and what to fix first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120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for the Head of Operations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6811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Kostiantyn Dolyna  |  October 2026</a:t>
            </a:r>
            <a:endParaRPr lang="en-US" sz="1400" dirty="0"/>
          </a:p>
        </p:txBody>
      </p:sp>
      <p:sp>
        <p:nvSpPr>
          <p:cNvPr id="6" name="Card 3"/>
          <p:cNvSpPr/>
          <p:nvPr/>
        </p:nvSpPr>
        <p:spPr>
          <a:xfrm>
            <a:off x="7955280" y="182880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83880" y="2148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14.6%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34747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reviewed orders end in a 1-2 star review: 14,382 of 98,330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delivery promises and incomplete orders account for the avoidable bad reviews; completeness is the larger lever</a:t>
            </a:r>
            <a:endParaRPr lang="en-US" sz="2800" dirty="0"/>
          </a:p>
        </p:txBody>
      </p:sp>
      <p:sp>
        <p:nvSpPr>
          <p:cNvPr id="4" name="Text 6"/>
          <p:cNvSpPr txBox="1"/>
          <p:nvPr/>
        </p:nvSpPr>
        <p:spPr>
          <a:xfrm>
            <a:off x="54864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5" name="Text 7"/>
          <p:cNvSpPr txBox="1"/>
          <p:nvPr/>
        </p:nvSpPr>
        <p:spPr>
          <a:xfrm>
            <a:off x="548640" y="2093976"/>
            <a:ext cx="6400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 of reviewed orders get 1-2 stars, although 93.2% of deliveries arrive on or before the promised date.</a:t>
            </a:r>
            <a:endParaRPr lang="en-US" sz="1600" dirty="0"/>
          </a:p>
        </p:txBody>
      </p:sp>
      <p:sp>
        <p:nvSpPr>
          <p:cNvPr id="6" name="Text 8"/>
          <p:cNvSpPr txBox="1"/>
          <p:nvPr/>
        </p:nvSpPr>
        <p:spPr>
          <a:xfrm>
            <a:off x="548640" y="3154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200" dirty="0"/>
          </a:p>
        </p:txBody>
      </p:sp>
      <p:sp>
        <p:nvSpPr>
          <p:cNvPr id="7" name="Text 9"/>
          <p:cNvSpPr txBox="1"/>
          <p:nvPr/>
        </p:nvSpPr>
        <p:spPr>
          <a:xfrm>
            <a:off x="548640" y="3465576"/>
            <a:ext cx="640080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and undelivered orders are 9.5% of orders but 42.7% of bad reviews. A second problem hides inside the on-time figure: orders with several items are recorded as delivered while part of the order is missing.</a:t>
            </a:r>
            <a:endParaRPr lang="en-US" sz="1600" dirty="0"/>
          </a:p>
        </p:txBody>
      </p:sp>
      <p:sp>
        <p:nvSpPr>
          <p:cNvPr id="8" name="Text 10"/>
          <p:cNvSpPr txBox="1"/>
          <p:nvPr/>
        </p:nvSpPr>
        <p:spPr>
          <a:xfrm>
            <a:off x="548640" y="4937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9" name="Text 11"/>
          <p:cNvSpPr txBox="1"/>
          <p:nvPr/>
        </p:nvSpPr>
        <p:spPr>
          <a:xfrm>
            <a:off x="548640" y="5248656"/>
            <a:ext cx="6400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make every order complete and measurable. Then fix transit on the Rio de Janeiro and Northeast routes, and warn customers before a promise is missed.</a:t>
            </a:r>
            <a:endParaRPr lang="en-US" sz="1600" dirty="0"/>
          </a:p>
        </p:txBody>
      </p:sp>
      <p:sp>
        <p:nvSpPr>
          <p:cNvPr id="10" name="Card 12"/>
          <p:cNvSpPr/>
          <p:nvPr/>
        </p:nvSpPr>
        <p:spPr>
          <a:xfrm>
            <a:off x="7589520" y="1737360"/>
            <a:ext cx="4050792" cy="4389120"/>
          </a:xfrm>
          <a:prstGeom prst="roundRect">
            <a:avLst>
              <a:gd name="adj" fmla="val 18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13"/>
          <p:cNvSpPr txBox="1"/>
          <p:nvPr/>
        </p:nvSpPr>
        <p:spPr>
          <a:xfrm>
            <a:off x="7863840" y="1874520"/>
            <a:ext cx="350215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42.7%</a:t>
            </a:r>
            <a:endParaRPr lang="en-US" sz="3400" dirty="0"/>
          </a:p>
        </p:txBody>
      </p:sp>
      <p:sp>
        <p:nvSpPr>
          <p:cNvPr id="12" name="Text 14"/>
          <p:cNvSpPr txBox="1"/>
          <p:nvPr/>
        </p:nvSpPr>
        <p:spPr>
          <a:xfrm>
            <a:off x="7863840" y="245999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bad reviews come from the 9.5% of orders that were late or never delivered</a:t>
            </a:r>
            <a:endParaRPr lang="en-US" sz="1400" dirty="0"/>
          </a:p>
        </p:txBody>
      </p:sp>
      <p:sp>
        <p:nvSpPr>
          <p:cNvPr id="13" name="Text 15"/>
          <p:cNvSpPr txBox="1"/>
          <p:nvPr/>
        </p:nvSpPr>
        <p:spPr>
          <a:xfrm>
            <a:off x="7863840" y="3291840"/>
            <a:ext cx="350215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400" dirty="0"/>
          </a:p>
        </p:txBody>
      </p:sp>
      <p:sp>
        <p:nvSpPr>
          <p:cNvPr id="14" name="Text 16"/>
          <p:cNvSpPr txBox="1"/>
          <p:nvPr/>
        </p:nvSpPr>
        <p:spPr>
          <a:xfrm>
            <a:off x="7863840" y="387731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complaints about on-time orders with several items report a missing part</a:t>
            </a:r>
            <a:endParaRPr lang="en-US" sz="1400" dirty="0"/>
          </a:p>
        </p:txBody>
      </p:sp>
      <p:sp>
        <p:nvSpPr>
          <p:cNvPr id="15" name="Text 17"/>
          <p:cNvSpPr txBox="1"/>
          <p:nvPr/>
        </p:nvSpPr>
        <p:spPr>
          <a:xfrm>
            <a:off x="7863840" y="4709160"/>
            <a:ext cx="350215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1,609</a:t>
            </a:r>
            <a:endParaRPr lang="en-US" sz="3400" dirty="0"/>
          </a:p>
        </p:txBody>
      </p:sp>
      <p:sp>
        <p:nvSpPr>
          <p:cNvPr id="16" name="Text 18"/>
          <p:cNvSpPr txBox="1"/>
          <p:nvPr/>
        </p:nvSpPr>
        <p:spPr>
          <a:xfrm>
            <a:off x="7863840" y="529463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reviews avoidable in the base case (1,072 to 2,145), 11% of the total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 seven reviewed orders ends in a bad review, although 93% of deliveries keep the promised date</a:t>
            </a:r>
            <a:endParaRPr lang="en-US" sz="2800" dirty="0"/>
          </a:p>
        </p:txBody>
      </p:sp>
      <p:sp>
        <p:nvSpPr>
          <p:cNvPr id="4" name="Card 19"/>
          <p:cNvSpPr/>
          <p:nvPr/>
        </p:nvSpPr>
        <p:spPr>
          <a:xfrm>
            <a:off x="548640" y="1737360"/>
            <a:ext cx="484632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20"/>
          <p:cNvSpPr txBox="1"/>
          <p:nvPr/>
        </p:nvSpPr>
        <p:spPr>
          <a:xfrm>
            <a:off x="822960" y="1920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from the Head of Operations</a:t>
            </a:r>
            <a:endParaRPr lang="en-US" sz="1200" dirty="0"/>
          </a:p>
        </p:txBody>
      </p:sp>
      <p:sp>
        <p:nvSpPr>
          <p:cNvPr id="6" name="Text 21"/>
          <p:cNvSpPr txBox="1"/>
          <p:nvPr/>
        </p:nvSpPr>
        <p:spPr>
          <a:xfrm>
            <a:off x="822960" y="228600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customers give bad reviews, how much does it cost the business, and what should we fix first?</a:t>
            </a:r>
            <a:endParaRPr lang="en-US" sz="2200" dirty="0"/>
          </a:p>
        </p:txBody>
      </p:sp>
      <p:sp>
        <p:nvSpPr>
          <p:cNvPr id="7" name="Text 22"/>
          <p:cNvSpPr txBox="1"/>
          <p:nvPr/>
        </p:nvSpPr>
        <p:spPr>
          <a:xfrm>
            <a:off x="548640" y="42062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cost is measured here. </a:t>
            </a:r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contains no commission or cost figures, so the cost of the problem is counted in bad reviews, not in money.</a:t>
            </a:r>
            <a:endParaRPr lang="en-US" sz="1400" dirty="0"/>
          </a:p>
        </p:txBody>
      </p:sp>
      <p:sp>
        <p:nvSpPr>
          <p:cNvPr id="8" name="Card 23"/>
          <p:cNvSpPr/>
          <p:nvPr/>
        </p:nvSpPr>
        <p:spPr>
          <a:xfrm>
            <a:off x="5852160" y="173736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24"/>
          <p:cNvSpPr txBox="1"/>
          <p:nvPr/>
        </p:nvSpPr>
        <p:spPr>
          <a:xfrm>
            <a:off x="6035040" y="2011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99,092</a:t>
            </a:r>
            <a:endParaRPr lang="en-US" sz="2800" dirty="0"/>
          </a:p>
        </p:txBody>
      </p:sp>
      <p:sp>
        <p:nvSpPr>
          <p:cNvPr id="10" name="Text 25"/>
          <p:cNvSpPr txBox="1"/>
          <p:nvPr/>
        </p:nvSpPr>
        <p:spPr>
          <a:xfrm>
            <a:off x="603504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</a:t>
            </a:r>
            <a:endParaRPr lang="en-US" sz="1400" dirty="0"/>
          </a:p>
        </p:txBody>
      </p:sp>
      <p:sp>
        <p:nvSpPr>
          <p:cNvPr id="11" name="Card 26"/>
          <p:cNvSpPr/>
          <p:nvPr/>
        </p:nvSpPr>
        <p:spPr>
          <a:xfrm>
            <a:off x="7836408" y="173736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27"/>
          <p:cNvSpPr txBox="1"/>
          <p:nvPr/>
        </p:nvSpPr>
        <p:spPr>
          <a:xfrm>
            <a:off x="8019288" y="2011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13.5M</a:t>
            </a:r>
            <a:endParaRPr lang="en-US" sz="2800" dirty="0"/>
          </a:p>
        </p:txBody>
      </p:sp>
      <p:sp>
        <p:nvSpPr>
          <p:cNvPr id="13" name="Text 28"/>
          <p:cNvSpPr txBox="1"/>
          <p:nvPr/>
        </p:nvSpPr>
        <p:spPr>
          <a:xfrm>
            <a:off x="8019288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BRL, value of products ordered (GMV)</a:t>
            </a:r>
            <a:endParaRPr lang="en-US" sz="1400" dirty="0"/>
          </a:p>
        </p:txBody>
      </p:sp>
      <p:sp>
        <p:nvSpPr>
          <p:cNvPr id="14" name="Card 29"/>
          <p:cNvSpPr/>
          <p:nvPr/>
        </p:nvSpPr>
        <p:spPr>
          <a:xfrm>
            <a:off x="9820656" y="173736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30"/>
          <p:cNvSpPr txBox="1"/>
          <p:nvPr/>
        </p:nvSpPr>
        <p:spPr>
          <a:xfrm>
            <a:off x="10003536" y="2011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93.2%</a:t>
            </a:r>
            <a:endParaRPr lang="en-US" sz="2800" dirty="0"/>
          </a:p>
        </p:txBody>
      </p:sp>
      <p:sp>
        <p:nvSpPr>
          <p:cNvPr id="16" name="Text 31"/>
          <p:cNvSpPr txBox="1"/>
          <p:nvPr/>
        </p:nvSpPr>
        <p:spPr>
          <a:xfrm>
            <a:off x="10003536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deliveries on or before the promised date</a:t>
            </a:r>
            <a:endParaRPr lang="en-US" sz="1400" dirty="0"/>
          </a:p>
        </p:txBody>
      </p:sp>
      <p:sp>
        <p:nvSpPr>
          <p:cNvPr id="17" name="Card 32"/>
          <p:cNvSpPr/>
          <p:nvPr/>
        </p:nvSpPr>
        <p:spPr>
          <a:xfrm>
            <a:off x="5852160" y="3904488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33"/>
          <p:cNvSpPr txBox="1"/>
          <p:nvPr/>
        </p:nvSpPr>
        <p:spPr>
          <a:xfrm>
            <a:off x="6035040" y="417880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2.9%</a:t>
            </a:r>
            <a:endParaRPr lang="en-US" sz="2800" dirty="0"/>
          </a:p>
        </p:txBody>
      </p:sp>
      <p:sp>
        <p:nvSpPr>
          <p:cNvPr id="19" name="Text 34"/>
          <p:cNvSpPr txBox="1"/>
          <p:nvPr/>
        </p:nvSpPr>
        <p:spPr>
          <a:xfrm>
            <a:off x="6035040" y="495604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never delivered</a:t>
            </a:r>
            <a:endParaRPr lang="en-US" sz="1400" dirty="0"/>
          </a:p>
        </p:txBody>
      </p:sp>
      <p:sp>
        <p:nvSpPr>
          <p:cNvPr id="20" name="Card 35"/>
          <p:cNvSpPr/>
          <p:nvPr/>
        </p:nvSpPr>
        <p:spPr>
          <a:xfrm>
            <a:off x="7836408" y="3904488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36"/>
          <p:cNvSpPr txBox="1"/>
          <p:nvPr/>
        </p:nvSpPr>
        <p:spPr>
          <a:xfrm>
            <a:off x="8019288" y="417880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4.09</a:t>
            </a:r>
            <a:endParaRPr lang="en-US" sz="2800" dirty="0"/>
          </a:p>
        </p:txBody>
      </p:sp>
      <p:sp>
        <p:nvSpPr>
          <p:cNvPr id="22" name="Text 37"/>
          <p:cNvSpPr txBox="1"/>
          <p:nvPr/>
        </p:nvSpPr>
        <p:spPr>
          <a:xfrm>
            <a:off x="8019288" y="495604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score, out of 5</a:t>
            </a:r>
            <a:endParaRPr lang="en-US" sz="1400" dirty="0"/>
          </a:p>
        </p:txBody>
      </p:sp>
      <p:sp>
        <p:nvSpPr>
          <p:cNvPr id="23" name="Card 38"/>
          <p:cNvSpPr/>
          <p:nvPr/>
        </p:nvSpPr>
        <p:spPr>
          <a:xfrm>
            <a:off x="9820656" y="3904488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BE4DA"/>
          </a:solidFill>
          <a:ln w="12700">
            <a:solidFill>
              <a:srgbClr val="FBE4DA"/>
            </a:solidFill>
            <a:prstDash val="solid"/>
          </a:ln>
        </p:spPr>
      </p:sp>
      <p:sp>
        <p:nvSpPr>
          <p:cNvPr id="24" name="Text 39"/>
          <p:cNvSpPr txBox="1"/>
          <p:nvPr/>
        </p:nvSpPr>
        <p:spPr>
          <a:xfrm>
            <a:off x="10003536" y="417880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14.6%</a:t>
            </a:r>
            <a:endParaRPr lang="en-US" sz="2800" dirty="0"/>
          </a:p>
        </p:txBody>
      </p:sp>
      <p:sp>
        <p:nvSpPr>
          <p:cNvPr id="25" name="Text 40"/>
          <p:cNvSpPr txBox="1"/>
          <p:nvPr/>
        </p:nvSpPr>
        <p:spPr>
          <a:xfrm>
            <a:off x="10003536" y="495604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reviewed orders with 1-2 stars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analysis combines 99,092 orders with 300 customer reviews read in the original Portuguese</a:t>
            </a:r>
            <a:endParaRPr lang="en-US" sz="2800" dirty="0"/>
          </a:p>
        </p:txBody>
      </p:sp>
      <p:sp>
        <p:nvSpPr>
          <p:cNvPr id="4" name="Card 41"/>
          <p:cNvSpPr/>
          <p:nvPr/>
        </p:nvSpPr>
        <p:spPr>
          <a:xfrm>
            <a:off x="548640" y="1737360"/>
            <a:ext cx="1737360" cy="224028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Badge 42"/>
          <p:cNvSpPr/>
          <p:nvPr/>
        </p:nvSpPr>
        <p:spPr>
          <a:xfrm>
            <a:off x="731520" y="1920240"/>
            <a:ext cx="420624" cy="420624"/>
          </a:xfrm>
          <a:prstGeom prst="ellipse">
            <a:avLst/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6" name="Text 43"/>
          <p:cNvSpPr txBox="1"/>
          <p:nvPr/>
        </p:nvSpPr>
        <p:spPr>
          <a:xfrm>
            <a:off x="73152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4"/>
          <p:cNvSpPr txBox="1"/>
          <p:nvPr/>
        </p:nvSpPr>
        <p:spPr>
          <a:xfrm>
            <a:off x="1261872" y="19202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8" name="Text 45"/>
          <p:cNvSpPr txBox="1"/>
          <p:nvPr/>
        </p:nvSpPr>
        <p:spPr>
          <a:xfrm>
            <a:off x="731520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tables</a:t>
            </a:r>
            <a:endParaRPr lang="en-US" sz="1700" dirty="0"/>
          </a:p>
        </p:txBody>
      </p:sp>
      <p:sp>
        <p:nvSpPr>
          <p:cNvPr id="9" name="Text 46"/>
          <p:cNvSpPr txBox="1"/>
          <p:nvPr/>
        </p:nvSpPr>
        <p:spPr>
          <a:xfrm>
            <a:off x="731520" y="2926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data, with 32 documented data decisions</a:t>
            </a:r>
            <a:endParaRPr lang="en-US" sz="1200" dirty="0"/>
          </a:p>
        </p:txBody>
      </p:sp>
      <p:sp>
        <p:nvSpPr>
          <p:cNvPr id="10" name="Card 47"/>
          <p:cNvSpPr/>
          <p:nvPr/>
        </p:nvSpPr>
        <p:spPr>
          <a:xfrm>
            <a:off x="2419502" y="1737360"/>
            <a:ext cx="1737360" cy="224028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Badge 48"/>
          <p:cNvSpPr/>
          <p:nvPr/>
        </p:nvSpPr>
        <p:spPr>
          <a:xfrm>
            <a:off x="2602382" y="1920240"/>
            <a:ext cx="420624" cy="420624"/>
          </a:xfrm>
          <a:prstGeom prst="ellipse">
            <a:avLst/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12" name="Text 49"/>
          <p:cNvSpPr txBox="1"/>
          <p:nvPr/>
        </p:nvSpPr>
        <p:spPr>
          <a:xfrm>
            <a:off x="2602382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50"/>
          <p:cNvSpPr txBox="1"/>
          <p:nvPr/>
        </p:nvSpPr>
        <p:spPr>
          <a:xfrm>
            <a:off x="3132734" y="19202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4" name="Text 51"/>
          <p:cNvSpPr txBox="1"/>
          <p:nvPr/>
        </p:nvSpPr>
        <p:spPr>
          <a:xfrm>
            <a:off x="2602382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</a:t>
            </a:r>
            <a:endParaRPr lang="en-US" sz="1700" dirty="0"/>
          </a:p>
        </p:txBody>
      </p:sp>
      <p:sp>
        <p:nvSpPr>
          <p:cNvPr id="15" name="Text 52"/>
          <p:cNvSpPr txBox="1"/>
          <p:nvPr/>
        </p:nvSpPr>
        <p:spPr>
          <a:xfrm>
            <a:off x="2602382" y="2926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tests reconcile it with the raw data</a:t>
            </a:r>
            <a:endParaRPr lang="en-US" sz="1200" dirty="0"/>
          </a:p>
        </p:txBody>
      </p:sp>
      <p:sp>
        <p:nvSpPr>
          <p:cNvPr id="16" name="Card 53"/>
          <p:cNvSpPr/>
          <p:nvPr/>
        </p:nvSpPr>
        <p:spPr>
          <a:xfrm>
            <a:off x="4290365" y="1737360"/>
            <a:ext cx="1737360" cy="224028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Badge 54"/>
          <p:cNvSpPr/>
          <p:nvPr/>
        </p:nvSpPr>
        <p:spPr>
          <a:xfrm>
            <a:off x="4473245" y="1920240"/>
            <a:ext cx="420624" cy="420624"/>
          </a:xfrm>
          <a:prstGeom prst="ellipse">
            <a:avLst/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18" name="Text 55"/>
          <p:cNvSpPr txBox="1"/>
          <p:nvPr/>
        </p:nvSpPr>
        <p:spPr>
          <a:xfrm>
            <a:off x="4473245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56"/>
          <p:cNvSpPr txBox="1"/>
          <p:nvPr/>
        </p:nvSpPr>
        <p:spPr>
          <a:xfrm>
            <a:off x="5003597" y="19202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20" name="Text 57"/>
          <p:cNvSpPr txBox="1"/>
          <p:nvPr/>
        </p:nvSpPr>
        <p:spPr>
          <a:xfrm>
            <a:off x="4473245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KPIs</a:t>
            </a:r>
            <a:endParaRPr lang="en-US" sz="1700" dirty="0"/>
          </a:p>
        </p:txBody>
      </p:sp>
      <p:sp>
        <p:nvSpPr>
          <p:cNvPr id="21" name="Text 58"/>
          <p:cNvSpPr txBox="1"/>
          <p:nvPr/>
        </p:nvSpPr>
        <p:spPr>
          <a:xfrm>
            <a:off x="4473245" y="2926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written definition per number</a:t>
            </a:r>
            <a:endParaRPr lang="en-US" sz="1200" dirty="0"/>
          </a:p>
        </p:txBody>
      </p:sp>
      <p:sp>
        <p:nvSpPr>
          <p:cNvPr id="22" name="Card 59"/>
          <p:cNvSpPr/>
          <p:nvPr/>
        </p:nvSpPr>
        <p:spPr>
          <a:xfrm>
            <a:off x="6161227" y="1737360"/>
            <a:ext cx="1737360" cy="224028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Badge 60"/>
          <p:cNvSpPr/>
          <p:nvPr/>
        </p:nvSpPr>
        <p:spPr>
          <a:xfrm>
            <a:off x="6344107" y="1920240"/>
            <a:ext cx="420624" cy="420624"/>
          </a:xfrm>
          <a:prstGeom prst="ellipse">
            <a:avLst/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24" name="Text 61"/>
          <p:cNvSpPr txBox="1"/>
          <p:nvPr/>
        </p:nvSpPr>
        <p:spPr>
          <a:xfrm>
            <a:off x="6344107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62"/>
          <p:cNvSpPr txBox="1"/>
          <p:nvPr/>
        </p:nvSpPr>
        <p:spPr>
          <a:xfrm>
            <a:off x="6874459" y="19202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6" name="Text 63"/>
          <p:cNvSpPr txBox="1"/>
          <p:nvPr/>
        </p:nvSpPr>
        <p:spPr>
          <a:xfrm>
            <a:off x="6344107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questions</a:t>
            </a:r>
            <a:endParaRPr lang="en-US" sz="1700" dirty="0"/>
          </a:p>
        </p:txBody>
      </p:sp>
      <p:sp>
        <p:nvSpPr>
          <p:cNvPr id="27" name="Text 64"/>
          <p:cNvSpPr txBox="1"/>
          <p:nvPr/>
        </p:nvSpPr>
        <p:spPr>
          <a:xfrm>
            <a:off x="6344107" y="2926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on delivery, product, price, seller, geography</a:t>
            </a:r>
            <a:endParaRPr lang="en-US" sz="1200" dirty="0"/>
          </a:p>
        </p:txBody>
      </p:sp>
      <p:sp>
        <p:nvSpPr>
          <p:cNvPr id="28" name="Card 65"/>
          <p:cNvSpPr/>
          <p:nvPr/>
        </p:nvSpPr>
        <p:spPr>
          <a:xfrm>
            <a:off x="8032090" y="1737360"/>
            <a:ext cx="1737360" cy="224028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Badge 66"/>
          <p:cNvSpPr/>
          <p:nvPr/>
        </p:nvSpPr>
        <p:spPr>
          <a:xfrm>
            <a:off x="8214970" y="192024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0" name="Text 67"/>
          <p:cNvSpPr txBox="1"/>
          <p:nvPr/>
        </p:nvSpPr>
        <p:spPr>
          <a:xfrm>
            <a:off x="821497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68"/>
          <p:cNvSpPr txBox="1"/>
          <p:nvPr/>
        </p:nvSpPr>
        <p:spPr>
          <a:xfrm>
            <a:off x="8745322" y="19202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32" name="Text 69"/>
          <p:cNvSpPr txBox="1"/>
          <p:nvPr/>
        </p:nvSpPr>
        <p:spPr>
          <a:xfrm>
            <a:off x="8214970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reviews</a:t>
            </a:r>
            <a:endParaRPr lang="en-US" sz="1700" dirty="0"/>
          </a:p>
        </p:txBody>
      </p:sp>
      <p:sp>
        <p:nvSpPr>
          <p:cNvPr id="33" name="Text 70"/>
          <p:cNvSpPr txBox="1"/>
          <p:nvPr/>
        </p:nvSpPr>
        <p:spPr>
          <a:xfrm>
            <a:off x="8214970" y="2926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sample from 10,636 bad reviews with a comment; 8 complaint types</a:t>
            </a:r>
            <a:endParaRPr lang="en-US" sz="1200" dirty="0"/>
          </a:p>
        </p:txBody>
      </p:sp>
      <p:sp>
        <p:nvSpPr>
          <p:cNvPr id="34" name="Card 71"/>
          <p:cNvSpPr/>
          <p:nvPr/>
        </p:nvSpPr>
        <p:spPr>
          <a:xfrm>
            <a:off x="9902952" y="1737360"/>
            <a:ext cx="1737360" cy="224028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Badge 72"/>
          <p:cNvSpPr/>
          <p:nvPr/>
        </p:nvSpPr>
        <p:spPr>
          <a:xfrm>
            <a:off x="10085832" y="1920240"/>
            <a:ext cx="420624" cy="420624"/>
          </a:xfrm>
          <a:prstGeom prst="ellipse">
            <a:avLst/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36" name="Text 73"/>
          <p:cNvSpPr txBox="1"/>
          <p:nvPr/>
        </p:nvSpPr>
        <p:spPr>
          <a:xfrm>
            <a:off x="10085832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74"/>
          <p:cNvSpPr txBox="1"/>
          <p:nvPr/>
        </p:nvSpPr>
        <p:spPr>
          <a:xfrm>
            <a:off x="10616184" y="19202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400" dirty="0"/>
          </a:p>
        </p:txBody>
      </p:sp>
      <p:sp>
        <p:nvSpPr>
          <p:cNvPr id="38" name="Text 75"/>
          <p:cNvSpPr txBox="1"/>
          <p:nvPr/>
        </p:nvSpPr>
        <p:spPr>
          <a:xfrm>
            <a:off x="10085832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scenarios</a:t>
            </a:r>
            <a:endParaRPr lang="en-US" sz="1700" dirty="0"/>
          </a:p>
        </p:txBody>
      </p:sp>
      <p:sp>
        <p:nvSpPr>
          <p:cNvPr id="39" name="Text 76"/>
          <p:cNvSpPr txBox="1"/>
          <p:nvPr/>
        </p:nvSpPr>
        <p:spPr>
          <a:xfrm>
            <a:off x="10085832" y="2926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base and high case</a:t>
            </a:r>
            <a:endParaRPr lang="en-US" sz="1200" dirty="0"/>
          </a:p>
        </p:txBody>
      </p:sp>
      <p:sp>
        <p:nvSpPr>
          <p:cNvPr id="40" name="Text 77"/>
          <p:cNvSpPr txBox="1"/>
          <p:nvPr/>
        </p:nvSpPr>
        <p:spPr>
          <a:xfrm>
            <a:off x="54864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choices that shape the results</a:t>
            </a:r>
            <a:endParaRPr lang="en-US" sz="1600" dirty="0"/>
          </a:p>
        </p:txBody>
      </p:sp>
      <p:sp>
        <p:nvSpPr>
          <p:cNvPr id="41" name="Text 78"/>
          <p:cNvSpPr txBox="1"/>
          <p:nvPr/>
        </p:nvSpPr>
        <p:spPr>
          <a:xfrm>
            <a:off x="548640" y="470916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that never arrived stay in the analysis</a:t>
            </a:r>
            <a:endParaRPr lang="en-US" sz="1400" dirty="0"/>
          </a:p>
        </p:txBody>
      </p:sp>
      <p:sp>
        <p:nvSpPr>
          <p:cNvPr id="42" name="Text 79"/>
          <p:cNvSpPr txBox="1"/>
          <p:nvPr/>
        </p:nvSpPr>
        <p:spPr>
          <a:xfrm>
            <a:off x="548640" y="5029200"/>
            <a:ext cx="351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2.9% of orders and 15.0% of bad reviews.</a:t>
            </a:r>
            <a:endParaRPr lang="en-US" sz="1400" dirty="0"/>
          </a:p>
        </p:txBody>
      </p:sp>
      <p:sp>
        <p:nvSpPr>
          <p:cNvPr id="43" name="Text 80"/>
          <p:cNvSpPr txBox="1"/>
          <p:nvPr/>
        </p:nvSpPr>
        <p:spPr>
          <a:xfrm>
            <a:off x="4338218" y="470916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means after the promised calendar date</a:t>
            </a:r>
            <a:endParaRPr lang="en-US" sz="1400" dirty="0"/>
          </a:p>
        </p:txBody>
      </p:sp>
      <p:sp>
        <p:nvSpPr>
          <p:cNvPr id="44" name="Text 81"/>
          <p:cNvSpPr txBox="1"/>
          <p:nvPr/>
        </p:nvSpPr>
        <p:spPr>
          <a:xfrm>
            <a:off x="4338218" y="5029200"/>
            <a:ext cx="351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delivery on the promised day counts as on time.</a:t>
            </a:r>
            <a:endParaRPr lang="en-US" sz="1400" dirty="0"/>
          </a:p>
        </p:txBody>
      </p:sp>
      <p:sp>
        <p:nvSpPr>
          <p:cNvPr id="45" name="Text 82"/>
          <p:cNvSpPr txBox="1"/>
          <p:nvPr/>
        </p:nvSpPr>
        <p:spPr>
          <a:xfrm>
            <a:off x="8127797" y="470916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per order</a:t>
            </a:r>
            <a:endParaRPr lang="en-US" sz="1400" dirty="0"/>
          </a:p>
        </p:txBody>
      </p:sp>
      <p:sp>
        <p:nvSpPr>
          <p:cNvPr id="46" name="Text 83"/>
          <p:cNvSpPr txBox="1"/>
          <p:nvPr/>
        </p:nvSpPr>
        <p:spPr>
          <a:xfrm>
            <a:off x="8127797" y="5029200"/>
            <a:ext cx="351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order has several reviews, the latest one counts.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broken delivery promise is the strongest driver: 62% of late orders get a bad review, against 9% of on-time orders</a:t>
            </a:r>
            <a:endParaRPr lang="en-US" sz="2800" dirty="0"/>
          </a:p>
        </p:txBody>
      </p:sp>
      <p:graphicFrame>
        <p:nvGraphicFramePr>
          <p:cNvPr id="4" name="Chart bad reviews by delay band" descr=""/>
          <p:cNvGraphicFramePr/>
          <p:nvPr/>
        </p:nvGraphicFramePr>
        <p:xfrm>
          <a:off x="548640" y="1874520"/>
          <a:ext cx="70408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84"/>
          <p:cNvSpPr txBox="1"/>
          <p:nvPr/>
        </p:nvSpPr>
        <p:spPr>
          <a:xfrm>
            <a:off x="8046720" y="1783080"/>
            <a:ext cx="35935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9.5% of orders</a:t>
            </a:r>
            <a:endParaRPr lang="en-US" sz="2800" dirty="0"/>
          </a:p>
        </p:txBody>
      </p:sp>
      <p:sp>
        <p:nvSpPr>
          <p:cNvPr id="6" name="Text 85"/>
          <p:cNvSpPr txBox="1"/>
          <p:nvPr/>
        </p:nvSpPr>
        <p:spPr>
          <a:xfrm>
            <a:off x="8046720" y="227330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late or never delivered, and they account for 42.7% of all bad reviews</a:t>
            </a:r>
            <a:endParaRPr lang="en-US" sz="1400" dirty="0"/>
          </a:p>
        </p:txBody>
      </p:sp>
      <p:sp>
        <p:nvSpPr>
          <p:cNvPr id="7" name="Text 86"/>
          <p:cNvSpPr txBox="1"/>
          <p:nvPr/>
        </p:nvSpPr>
        <p:spPr>
          <a:xfrm>
            <a:off x="8046720" y="3200400"/>
            <a:ext cx="35935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50.9 to 55.6 points</a:t>
            </a:r>
            <a:endParaRPr lang="en-US" sz="2800" dirty="0"/>
          </a:p>
        </p:txBody>
      </p:sp>
      <p:sp>
        <p:nvSpPr>
          <p:cNvPr id="8" name="Text 87"/>
          <p:cNvSpPr txBox="1"/>
          <p:nvPr/>
        </p:nvSpPr>
        <p:spPr>
          <a:xfrm>
            <a:off x="8046720" y="369062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late and on-time orders in every one of the five regions</a:t>
            </a:r>
            <a:endParaRPr lang="en-US" sz="1400" dirty="0"/>
          </a:p>
        </p:txBody>
      </p:sp>
      <p:sp>
        <p:nvSpPr>
          <p:cNvPr id="9" name="Text 88"/>
          <p:cNvSpPr txBox="1"/>
          <p:nvPr/>
        </p:nvSpPr>
        <p:spPr>
          <a:xfrm>
            <a:off x="8046720" y="4526280"/>
            <a:ext cx="35935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 correlation</a:t>
            </a:r>
            <a:endParaRPr lang="en-US" sz="2800" dirty="0"/>
          </a:p>
        </p:txBody>
      </p:sp>
      <p:sp>
        <p:nvSpPr>
          <p:cNvPr id="10" name="Text 89"/>
          <p:cNvSpPr txBox="1"/>
          <p:nvPr/>
        </p:nvSpPr>
        <p:spPr>
          <a:xfrm>
            <a:off x="8046720" y="501650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monthly late rate and the monthly share of bad reviews, over 20 months</a:t>
            </a:r>
            <a:endParaRPr lang="en-US" sz="1400" dirty="0"/>
          </a:p>
        </p:txBody>
      </p:sp>
      <p:sp>
        <p:nvSpPr>
          <p:cNvPr id="11" name="Text 90"/>
          <p:cNvSpPr txBox="1"/>
          <p:nvPr/>
        </p:nvSpPr>
        <p:spPr>
          <a:xfrm>
            <a:off x="8046720" y="5806440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data: a strong and consistent association, not a proven effect.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delay arises in transit on specific routes, above all to Rio de Janeiro and the Northeast, not with a few bad sellers</a:t>
            </a:r>
            <a:endParaRPr lang="en-US" sz="2800" dirty="0"/>
          </a:p>
        </p:txBody>
      </p:sp>
      <p:graphicFrame>
        <p:nvGraphicFramePr>
          <p:cNvPr id="4" name="Chart late rate by state" descr=""/>
          <p:cNvGraphicFramePr/>
          <p:nvPr/>
        </p:nvGraphicFramePr>
        <p:xfrm>
          <a:off x="548640" y="1874520"/>
          <a:ext cx="63093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91"/>
          <p:cNvSpPr txBox="1"/>
          <p:nvPr/>
        </p:nvSpPr>
        <p:spPr>
          <a:xfrm>
            <a:off x="7269480" y="1828800"/>
            <a:ext cx="20574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22.9%</a:t>
            </a:r>
            <a:endParaRPr lang="en-US" sz="2600" dirty="0"/>
          </a:p>
        </p:txBody>
      </p:sp>
      <p:sp>
        <p:nvSpPr>
          <p:cNvPr id="6" name="Text 92"/>
          <p:cNvSpPr txBox="1"/>
          <p:nvPr/>
        </p:nvSpPr>
        <p:spPr>
          <a:xfrm>
            <a:off x="7269480" y="228727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late deliveries go to Rio de Janeiro, which has 12.9% of orders</a:t>
            </a:r>
            <a:endParaRPr lang="en-US" sz="1400" dirty="0"/>
          </a:p>
        </p:txBody>
      </p:sp>
      <p:sp>
        <p:nvSpPr>
          <p:cNvPr id="7" name="Text 93"/>
          <p:cNvSpPr txBox="1"/>
          <p:nvPr/>
        </p:nvSpPr>
        <p:spPr>
          <a:xfrm>
            <a:off x="9582912" y="1828800"/>
            <a:ext cx="20574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vs 7 days</a:t>
            </a:r>
            <a:endParaRPr lang="en-US" sz="2600" dirty="0"/>
          </a:p>
        </p:txBody>
      </p:sp>
      <p:sp>
        <p:nvSpPr>
          <p:cNvPr id="8" name="Text 94"/>
          <p:cNvSpPr txBox="1"/>
          <p:nvPr/>
        </p:nvSpPr>
        <p:spPr>
          <a:xfrm>
            <a:off x="9582912" y="228727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with the carrier: late orders vs on-time orders</a:t>
            </a:r>
            <a:endParaRPr lang="en-US" sz="1400" dirty="0"/>
          </a:p>
        </p:txBody>
      </p:sp>
      <p:sp>
        <p:nvSpPr>
          <p:cNvPr id="9" name="Text 95"/>
          <p:cNvSpPr txBox="1"/>
          <p:nvPr/>
        </p:nvSpPr>
        <p:spPr>
          <a:xfrm>
            <a:off x="7269480" y="3977640"/>
            <a:ext cx="20574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2600" dirty="0"/>
          </a:p>
        </p:txBody>
      </p:sp>
      <p:sp>
        <p:nvSpPr>
          <p:cNvPr id="10" name="Text 96"/>
          <p:cNvSpPr txBox="1"/>
          <p:nvPr/>
        </p:nvSpPr>
        <p:spPr>
          <a:xfrm>
            <a:off x="7269480" y="443611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late orders were handed to the carrier in time by the seller</a:t>
            </a:r>
            <a:endParaRPr lang="en-US" sz="1400" dirty="0"/>
          </a:p>
        </p:txBody>
      </p:sp>
      <p:sp>
        <p:nvSpPr>
          <p:cNvPr id="11" name="Text 97"/>
          <p:cNvSpPr txBox="1"/>
          <p:nvPr/>
        </p:nvSpPr>
        <p:spPr>
          <a:xfrm>
            <a:off x="9582912" y="3977640"/>
            <a:ext cx="20574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600" dirty="0"/>
          </a:p>
        </p:txBody>
      </p:sp>
      <p:sp>
        <p:nvSpPr>
          <p:cNvPr id="12" name="Text 98"/>
          <p:cNvSpPr txBox="1"/>
          <p:nvPr/>
        </p:nvSpPr>
        <p:spPr>
          <a:xfrm>
            <a:off x="9582912" y="443611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late orders come from the worst 10% of sellers (64 sellers with 30+ orders)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customers write "not received"; customers with several items delivered on time write "part of my order is missing"</a:t>
            </a:r>
            <a:endParaRPr lang="en-US" sz="2800" dirty="0"/>
          </a:p>
        </p:txBody>
      </p:sp>
      <p:graphicFrame>
        <p:nvGraphicFramePr>
          <p:cNvPr id="4" name="Chart complaints by delivery group" descr=""/>
          <p:cNvGraphicFramePr/>
          <p:nvPr/>
        </p:nvGraphicFramePr>
        <p:xfrm>
          <a:off x="548640" y="1783080"/>
          <a:ext cx="749808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99"/>
          <p:cNvSpPr txBox="1"/>
          <p:nvPr/>
        </p:nvSpPr>
        <p:spPr>
          <a:xfrm>
            <a:off x="8412480" y="1783080"/>
            <a:ext cx="322783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4400" dirty="0"/>
          </a:p>
        </p:txBody>
      </p:sp>
      <p:sp>
        <p:nvSpPr>
          <p:cNvPr id="6" name="Text 100"/>
          <p:cNvSpPr txBox="1"/>
          <p:nvPr/>
        </p:nvSpPr>
        <p:spPr>
          <a:xfrm>
            <a:off x="8412480" y="2527300"/>
            <a:ext cx="3227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complaints about on-time orders with several items say that part is missing (95% interval 69% to 90%)</a:t>
            </a:r>
            <a:endParaRPr lang="en-US" sz="1400" dirty="0"/>
          </a:p>
        </p:txBody>
      </p:sp>
      <p:sp>
        <p:nvSpPr>
          <p:cNvPr id="7" name="Text 101"/>
          <p:cNvSpPr txBox="1"/>
          <p:nvPr/>
        </p:nvSpPr>
        <p:spPr>
          <a:xfrm>
            <a:off x="8412480" y="3703320"/>
            <a:ext cx="3227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of late-order complaints say the order has not arrived: the review is written while waiting.</a:t>
            </a:r>
            <a:endParaRPr lang="en-US" sz="1400" dirty="0"/>
          </a:p>
        </p:txBody>
      </p:sp>
      <p:sp>
        <p:nvSpPr>
          <p:cNvPr id="8" name="Card 102"/>
          <p:cNvSpPr/>
          <p:nvPr/>
        </p:nvSpPr>
        <p:spPr>
          <a:xfrm>
            <a:off x="548640" y="4892040"/>
            <a:ext cx="3545738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103"/>
          <p:cNvSpPr txBox="1"/>
          <p:nvPr/>
        </p:nvSpPr>
        <p:spPr>
          <a:xfrm>
            <a:off x="731520" y="498348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order arrived before the deadline, but when I opened the box it was incomplete. I ordered two sets and only one came."</a:t>
            </a:r>
            <a:endParaRPr lang="en-US" sz="1200" dirty="0"/>
          </a:p>
        </p:txBody>
      </p:sp>
      <p:sp>
        <p:nvSpPr>
          <p:cNvPr id="10" name="Text 104"/>
          <p:cNvSpPr txBox="1"/>
          <p:nvPr/>
        </p:nvSpPr>
        <p:spPr>
          <a:xfrm>
            <a:off x="731520" y="5870448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review, translated. Order: on time, several items</a:t>
            </a:r>
            <a:endParaRPr lang="en-US" sz="1000" dirty="0"/>
          </a:p>
        </p:txBody>
      </p:sp>
      <p:sp>
        <p:nvSpPr>
          <p:cNvPr id="11" name="Card 105"/>
          <p:cNvSpPr/>
          <p:nvPr/>
        </p:nvSpPr>
        <p:spPr>
          <a:xfrm>
            <a:off x="4322978" y="4892040"/>
            <a:ext cx="3545738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6"/>
          <p:cNvSpPr txBox="1"/>
          <p:nvPr/>
        </p:nvSpPr>
        <p:spPr>
          <a:xfrm>
            <a:off x="4505858" y="498348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still have not received my order. It was going to be a gift and the birthday was yesterday."</a:t>
            </a:r>
            <a:endParaRPr lang="en-US" sz="1200" dirty="0"/>
          </a:p>
        </p:txBody>
      </p:sp>
      <p:sp>
        <p:nvSpPr>
          <p:cNvPr id="13" name="Text 107"/>
          <p:cNvSpPr txBox="1"/>
          <p:nvPr/>
        </p:nvSpPr>
        <p:spPr>
          <a:xfrm>
            <a:off x="4505858" y="5870448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review, translated. Order: late</a:t>
            </a:r>
            <a:endParaRPr lang="en-US" sz="1000" dirty="0"/>
          </a:p>
        </p:txBody>
      </p:sp>
      <p:sp>
        <p:nvSpPr>
          <p:cNvPr id="14" name="Card 108"/>
          <p:cNvSpPr/>
          <p:nvPr/>
        </p:nvSpPr>
        <p:spPr>
          <a:xfrm>
            <a:off x="8097317" y="4892040"/>
            <a:ext cx="3545738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09"/>
          <p:cNvSpPr txBox="1"/>
          <p:nvPr/>
        </p:nvSpPr>
        <p:spPr>
          <a:xfrm>
            <a:off x="8280197" y="498348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received only one item and it is already marked as received on the website, and the shop does not answer."</a:t>
            </a:r>
            <a:endParaRPr lang="en-US" sz="1200" dirty="0"/>
          </a:p>
        </p:txBody>
      </p:sp>
      <p:sp>
        <p:nvSpPr>
          <p:cNvPr id="16" name="Text 110"/>
          <p:cNvSpPr txBox="1"/>
          <p:nvPr/>
        </p:nvSpPr>
        <p:spPr>
          <a:xfrm>
            <a:off x="8280197" y="5870448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review, translated. Order: on time, several items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orders and on-time delivery in the five worst states could remove about 1,600 bad reviews, 11% of the total</a:t>
            </a:r>
            <a:endParaRPr lang="en-US" sz="2800" dirty="0"/>
          </a:p>
        </p:txBody>
      </p:sp>
      <p:graphicFrame>
        <p:nvGraphicFramePr>
          <p:cNvPr id="4" name="Chart scenario" descr=""/>
          <p:cNvGraphicFramePr/>
          <p:nvPr/>
        </p:nvGraphicFramePr>
        <p:xfrm>
          <a:off x="548640" y="1828800"/>
          <a:ext cx="722376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11"/>
          <p:cNvSpPr txBox="1"/>
          <p:nvPr/>
        </p:nvSpPr>
        <p:spPr>
          <a:xfrm>
            <a:off x="8183880" y="1783080"/>
            <a:ext cx="345643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14.6% to 13.0%</a:t>
            </a:r>
            <a:endParaRPr lang="en-US" sz="2800" dirty="0"/>
          </a:p>
        </p:txBody>
      </p:sp>
      <p:sp>
        <p:nvSpPr>
          <p:cNvPr id="6" name="Text 112"/>
          <p:cNvSpPr txBox="1"/>
          <p:nvPr/>
        </p:nvSpPr>
        <p:spPr>
          <a:xfrm>
            <a:off x="8183880" y="227330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1-2 star reviews in the base case (12.4% to 13.5%)</a:t>
            </a:r>
            <a:endParaRPr lang="en-US" sz="1400" dirty="0"/>
          </a:p>
        </p:txBody>
      </p:sp>
      <p:sp>
        <p:nvSpPr>
          <p:cNvPr id="7" name="Text 113"/>
          <p:cNvSpPr txBox="1"/>
          <p:nvPr/>
        </p:nvSpPr>
        <p:spPr>
          <a:xfrm>
            <a:off x="8183880" y="3017520"/>
            <a:ext cx="345643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23.6%</a:t>
            </a:r>
            <a:endParaRPr lang="en-US" sz="2800" dirty="0"/>
          </a:p>
        </p:txBody>
      </p:sp>
      <p:sp>
        <p:nvSpPr>
          <p:cNvPr id="8" name="Text 114"/>
          <p:cNvSpPr txBox="1"/>
          <p:nvPr/>
        </p:nvSpPr>
        <p:spPr>
          <a:xfrm>
            <a:off x="8183880" y="3507740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bad reviews is the ceiling for any action on late deliveries alone, if no order were late</a:t>
            </a:r>
            <a:endParaRPr lang="en-US" sz="1400" dirty="0"/>
          </a:p>
        </p:txBody>
      </p:sp>
      <p:sp>
        <p:nvSpPr>
          <p:cNvPr id="9" name="Card 115"/>
          <p:cNvSpPr/>
          <p:nvPr/>
        </p:nvSpPr>
        <p:spPr>
          <a:xfrm>
            <a:off x="8183880" y="443484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116"/>
          <p:cNvSpPr txBox="1"/>
          <p:nvPr/>
        </p:nvSpPr>
        <p:spPr>
          <a:xfrm>
            <a:off x="8366760" y="4544568"/>
            <a:ext cx="30906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as an order of magnitude. </a:t>
            </a:r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 applies observed differences between groups of orders. It is not a measured effect, and the data has no cost side.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order completeness, then transit on the worst routes, and warn customers before a promise is missed</a:t>
            </a:r>
            <a:endParaRPr lang="en-US" sz="2800" dirty="0"/>
          </a:p>
        </p:txBody>
      </p:sp>
      <p:sp>
        <p:nvSpPr>
          <p:cNvPr id="4" name="Card 117"/>
          <p:cNvSpPr/>
          <p:nvPr/>
        </p:nvSpPr>
        <p:spPr>
          <a:xfrm>
            <a:off x="548640" y="1737360"/>
            <a:ext cx="3545738" cy="4297680"/>
          </a:xfrm>
          <a:prstGeom prst="roundRect">
            <a:avLst>
              <a:gd name="adj" fmla="val 206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Badge 118"/>
          <p:cNvSpPr/>
          <p:nvPr/>
        </p:nvSpPr>
        <p:spPr>
          <a:xfrm>
            <a:off x="777240" y="196596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119"/>
          <p:cNvSpPr txBox="1"/>
          <p:nvPr/>
        </p:nvSpPr>
        <p:spPr>
          <a:xfrm>
            <a:off x="77724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120"/>
          <p:cNvSpPr txBox="1"/>
          <p:nvPr/>
        </p:nvSpPr>
        <p:spPr>
          <a:xfrm>
            <a:off x="1325880" y="1920240"/>
            <a:ext cx="2585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every order complete, and measure it</a:t>
            </a:r>
            <a:endParaRPr lang="en-US" sz="1700" dirty="0"/>
          </a:p>
        </p:txBody>
      </p:sp>
      <p:sp>
        <p:nvSpPr>
          <p:cNvPr id="8" name="Text 121"/>
          <p:cNvSpPr txBox="1"/>
          <p:nvPr/>
        </p:nvSpPr>
        <p:spPr>
          <a:xfrm>
            <a:off x="777240" y="2697480"/>
            <a:ext cx="308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9,096 on-time orders with several items get 24.6% bad reviews, against 7.5% for single items.</a:t>
            </a:r>
            <a:endParaRPr lang="en-US" sz="1400" dirty="0"/>
          </a:p>
        </p:txBody>
      </p:sp>
      <p:sp>
        <p:nvSpPr>
          <p:cNvPr id="9" name="Text 122"/>
          <p:cNvSpPr txBox="1"/>
          <p:nvPr/>
        </p:nvSpPr>
        <p:spPr>
          <a:xfrm>
            <a:off x="777240" y="38404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0" name="Text 123"/>
          <p:cNvSpPr txBox="1"/>
          <p:nvPr/>
        </p:nvSpPr>
        <p:spPr>
          <a:xfrm>
            <a:off x="1645920" y="3840480"/>
            <a:ext cx="2219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about 1,151 bad reviews (768 to 1,535)</a:t>
            </a:r>
            <a:endParaRPr lang="en-US" sz="1400" dirty="0"/>
          </a:p>
        </p:txBody>
      </p:sp>
      <p:sp>
        <p:nvSpPr>
          <p:cNvPr id="11" name="Text 124"/>
          <p:cNvSpPr txBox="1"/>
          <p:nvPr/>
        </p:nvSpPr>
        <p:spPr>
          <a:xfrm>
            <a:off x="777240" y="44622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200" dirty="0"/>
          </a:p>
        </p:txBody>
      </p:sp>
      <p:sp>
        <p:nvSpPr>
          <p:cNvPr id="12" name="Text 125"/>
          <p:cNvSpPr txBox="1"/>
          <p:nvPr/>
        </p:nvSpPr>
        <p:spPr>
          <a:xfrm>
            <a:off x="1645920" y="4462272"/>
            <a:ext cx="2219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13" name="Text 126"/>
          <p:cNvSpPr txBox="1"/>
          <p:nvPr/>
        </p:nvSpPr>
        <p:spPr>
          <a:xfrm>
            <a:off x="777240" y="48646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14" name="Text 127"/>
          <p:cNvSpPr txBox="1"/>
          <p:nvPr/>
        </p:nvSpPr>
        <p:spPr>
          <a:xfrm>
            <a:off x="1645920" y="4864608"/>
            <a:ext cx="2219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Operations</a:t>
            </a:r>
            <a:endParaRPr lang="en-US" sz="1400" dirty="0"/>
          </a:p>
        </p:txBody>
      </p:sp>
      <p:sp>
        <p:nvSpPr>
          <p:cNvPr id="15" name="Text 128"/>
          <p:cNvSpPr txBox="1"/>
          <p:nvPr/>
        </p:nvSpPr>
        <p:spPr>
          <a:xfrm>
            <a:off x="777240" y="526694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</a:t>
            </a:r>
            <a:endParaRPr lang="en-US" sz="1200" dirty="0"/>
          </a:p>
        </p:txBody>
      </p:sp>
      <p:sp>
        <p:nvSpPr>
          <p:cNvPr id="16" name="Text 129"/>
          <p:cNvSpPr txBox="1"/>
          <p:nvPr/>
        </p:nvSpPr>
        <p:spPr>
          <a:xfrm>
            <a:off x="1645920" y="5266944"/>
            <a:ext cx="2219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100 several-item orders marked delivered: sent later, or never sent?</a:t>
            </a:r>
            <a:endParaRPr lang="en-US" sz="1400" dirty="0"/>
          </a:p>
        </p:txBody>
      </p:sp>
      <p:sp>
        <p:nvSpPr>
          <p:cNvPr id="17" name="Card 130"/>
          <p:cNvSpPr/>
          <p:nvPr/>
        </p:nvSpPr>
        <p:spPr>
          <a:xfrm>
            <a:off x="4322978" y="1737360"/>
            <a:ext cx="3545738" cy="4297680"/>
          </a:xfrm>
          <a:prstGeom prst="roundRect">
            <a:avLst>
              <a:gd name="adj" fmla="val 206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Badge 131"/>
          <p:cNvSpPr/>
          <p:nvPr/>
        </p:nvSpPr>
        <p:spPr>
          <a:xfrm>
            <a:off x="4551578" y="196596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9" name="Text 132"/>
          <p:cNvSpPr txBox="1"/>
          <p:nvPr/>
        </p:nvSpPr>
        <p:spPr>
          <a:xfrm>
            <a:off x="4551578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33"/>
          <p:cNvSpPr txBox="1"/>
          <p:nvPr/>
        </p:nvSpPr>
        <p:spPr>
          <a:xfrm>
            <a:off x="5100218" y="1920240"/>
            <a:ext cx="2585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transit to Rio de Janeiro and the Northeast</a:t>
            </a:r>
            <a:endParaRPr lang="en-US" sz="1700" dirty="0"/>
          </a:p>
        </p:txBody>
      </p:sp>
      <p:sp>
        <p:nvSpPr>
          <p:cNvPr id="21" name="Text 134"/>
          <p:cNvSpPr txBox="1"/>
          <p:nvPr/>
        </p:nvSpPr>
        <p:spPr>
          <a:xfrm>
            <a:off x="4551578" y="2697480"/>
            <a:ext cx="308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states hold 1,079 late orders above the national rate; late parcels spend 26 days in transit, not 7.</a:t>
            </a:r>
            <a:endParaRPr lang="en-US" sz="1400" dirty="0"/>
          </a:p>
        </p:txBody>
      </p:sp>
      <p:sp>
        <p:nvSpPr>
          <p:cNvPr id="22" name="Text 135"/>
          <p:cNvSpPr txBox="1"/>
          <p:nvPr/>
        </p:nvSpPr>
        <p:spPr>
          <a:xfrm>
            <a:off x="4551578" y="38404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23" name="Text 136"/>
          <p:cNvSpPr txBox="1"/>
          <p:nvPr/>
        </p:nvSpPr>
        <p:spPr>
          <a:xfrm>
            <a:off x="5420258" y="3840480"/>
            <a:ext cx="2219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about 457 bad reviews (305 to 610)</a:t>
            </a:r>
            <a:endParaRPr lang="en-US" sz="1400" dirty="0"/>
          </a:p>
        </p:txBody>
      </p:sp>
      <p:sp>
        <p:nvSpPr>
          <p:cNvPr id="24" name="Text 137"/>
          <p:cNvSpPr txBox="1"/>
          <p:nvPr/>
        </p:nvSpPr>
        <p:spPr>
          <a:xfrm>
            <a:off x="4551578" y="44622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200" dirty="0"/>
          </a:p>
        </p:txBody>
      </p:sp>
      <p:sp>
        <p:nvSpPr>
          <p:cNvPr id="25" name="Text 138"/>
          <p:cNvSpPr txBox="1"/>
          <p:nvPr/>
        </p:nvSpPr>
        <p:spPr>
          <a:xfrm>
            <a:off x="5420258" y="4462272"/>
            <a:ext cx="2219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26" name="Text 139"/>
          <p:cNvSpPr txBox="1"/>
          <p:nvPr/>
        </p:nvSpPr>
        <p:spPr>
          <a:xfrm>
            <a:off x="4551578" y="48646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27" name="Text 140"/>
          <p:cNvSpPr txBox="1"/>
          <p:nvPr/>
        </p:nvSpPr>
        <p:spPr>
          <a:xfrm>
            <a:off x="5420258" y="4864608"/>
            <a:ext cx="2219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400" dirty="0"/>
          </a:p>
        </p:txBody>
      </p:sp>
      <p:sp>
        <p:nvSpPr>
          <p:cNvPr id="28" name="Text 141"/>
          <p:cNvSpPr txBox="1"/>
          <p:nvPr/>
        </p:nvSpPr>
        <p:spPr>
          <a:xfrm>
            <a:off x="4551578" y="526694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</a:t>
            </a:r>
            <a:endParaRPr lang="en-US" sz="1200" dirty="0"/>
          </a:p>
        </p:txBody>
      </p:sp>
      <p:sp>
        <p:nvSpPr>
          <p:cNvPr id="29" name="Text 142"/>
          <p:cNvSpPr txBox="1"/>
          <p:nvPr/>
        </p:nvSpPr>
        <p:spPr>
          <a:xfrm>
            <a:off x="5420258" y="5266944"/>
            <a:ext cx="2219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carrier scorecard by route; review the promised dates there.</a:t>
            </a:r>
            <a:endParaRPr lang="en-US" sz="1400" dirty="0"/>
          </a:p>
        </p:txBody>
      </p:sp>
      <p:sp>
        <p:nvSpPr>
          <p:cNvPr id="30" name="Card 143"/>
          <p:cNvSpPr/>
          <p:nvPr/>
        </p:nvSpPr>
        <p:spPr>
          <a:xfrm>
            <a:off x="8097317" y="1737360"/>
            <a:ext cx="3545738" cy="4297680"/>
          </a:xfrm>
          <a:prstGeom prst="roundRect">
            <a:avLst>
              <a:gd name="adj" fmla="val 206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Badge 144"/>
          <p:cNvSpPr/>
          <p:nvPr/>
        </p:nvSpPr>
        <p:spPr>
          <a:xfrm>
            <a:off x="8325917" y="196596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2" name="Text 145"/>
          <p:cNvSpPr txBox="1"/>
          <p:nvPr/>
        </p:nvSpPr>
        <p:spPr>
          <a:xfrm>
            <a:off x="8325917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146"/>
          <p:cNvSpPr txBox="1"/>
          <p:nvPr/>
        </p:nvSpPr>
        <p:spPr>
          <a:xfrm>
            <a:off x="8874557" y="1920240"/>
            <a:ext cx="2585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 customers before a promise is missed</a:t>
            </a:r>
            <a:endParaRPr lang="en-US" sz="1700" dirty="0"/>
          </a:p>
        </p:txBody>
      </p:sp>
      <p:sp>
        <p:nvSpPr>
          <p:cNvPr id="34" name="Text 147"/>
          <p:cNvSpPr txBox="1"/>
          <p:nvPr/>
        </p:nvSpPr>
        <p:spPr>
          <a:xfrm>
            <a:off x="8325917" y="2697480"/>
            <a:ext cx="308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reviews go from 32% at 1-3 days late to 68% at 4-7 days; 66% of late complaints are written while waiting.</a:t>
            </a:r>
            <a:endParaRPr lang="en-US" sz="1400" dirty="0"/>
          </a:p>
        </p:txBody>
      </p:sp>
      <p:sp>
        <p:nvSpPr>
          <p:cNvPr id="35" name="Text 148"/>
          <p:cNvSpPr txBox="1"/>
          <p:nvPr/>
        </p:nvSpPr>
        <p:spPr>
          <a:xfrm>
            <a:off x="8325917" y="38404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6" name="Text 149"/>
          <p:cNvSpPr txBox="1"/>
          <p:nvPr/>
        </p:nvSpPr>
        <p:spPr>
          <a:xfrm>
            <a:off x="9194597" y="3840480"/>
            <a:ext cx="2219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quantified: needs a test</a:t>
            </a:r>
            <a:endParaRPr lang="en-US" sz="1400" dirty="0"/>
          </a:p>
        </p:txBody>
      </p:sp>
      <p:sp>
        <p:nvSpPr>
          <p:cNvPr id="37" name="Text 150"/>
          <p:cNvSpPr txBox="1"/>
          <p:nvPr/>
        </p:nvSpPr>
        <p:spPr>
          <a:xfrm>
            <a:off x="8325917" y="44622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200" dirty="0"/>
          </a:p>
        </p:txBody>
      </p:sp>
      <p:sp>
        <p:nvSpPr>
          <p:cNvPr id="38" name="Text 151"/>
          <p:cNvSpPr txBox="1"/>
          <p:nvPr/>
        </p:nvSpPr>
        <p:spPr>
          <a:xfrm>
            <a:off x="9194597" y="4462272"/>
            <a:ext cx="2219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/>
          </a:p>
        </p:txBody>
      </p:sp>
      <p:sp>
        <p:nvSpPr>
          <p:cNvPr id="39" name="Text 152"/>
          <p:cNvSpPr txBox="1"/>
          <p:nvPr/>
        </p:nvSpPr>
        <p:spPr>
          <a:xfrm>
            <a:off x="8325917" y="48646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40" name="Text 153"/>
          <p:cNvSpPr txBox="1"/>
          <p:nvPr/>
        </p:nvSpPr>
        <p:spPr>
          <a:xfrm>
            <a:off x="9194597" y="4864608"/>
            <a:ext cx="2219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400" dirty="0"/>
          </a:p>
        </p:txBody>
      </p:sp>
      <p:sp>
        <p:nvSpPr>
          <p:cNvPr id="41" name="Text 154"/>
          <p:cNvSpPr txBox="1"/>
          <p:nvPr/>
        </p:nvSpPr>
        <p:spPr>
          <a:xfrm>
            <a:off x="8325917" y="526694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</a:t>
            </a:r>
            <a:endParaRPr lang="en-US" sz="1200" dirty="0"/>
          </a:p>
        </p:txBody>
      </p:sp>
      <p:sp>
        <p:nvSpPr>
          <p:cNvPr id="42" name="Text 155"/>
          <p:cNvSpPr txBox="1"/>
          <p:nvPr/>
        </p:nvSpPr>
        <p:spPr>
          <a:xfrm>
            <a:off x="9194597" y="5266944"/>
            <a:ext cx="2219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new delivery date to half of the at-risk orders and compare the reviews.</a:t>
            </a:r>
            <a:endParaRPr lang="en-US" sz="1400" dirty="0"/>
          </a:p>
        </p:txBody>
      </p:sp>
      <p:sp>
        <p:nvSpPr>
          <p:cNvPr id="43" name="Text 156"/>
          <p:cNvSpPr txBox="1"/>
          <p:nvPr/>
        </p:nvSpPr>
        <p:spPr>
          <a:xfrm>
            <a:off x="548640" y="61264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levels and owners are assumptions: Olist's costs and organisation are not in the data.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findings are strong associations, not proven effects; four next steps would turn them into a business case</a:t>
            </a:r>
            <a:endParaRPr lang="en-US" sz="2800" dirty="0"/>
          </a:p>
        </p:txBody>
      </p:sp>
      <p:sp>
        <p:nvSpPr>
          <p:cNvPr id="4" name="Text 157"/>
          <p:cNvSpPr txBox="1"/>
          <p:nvPr/>
        </p:nvSpPr>
        <p:spPr>
          <a:xfrm>
            <a:off x="548640" y="1783080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5" name="Text 158"/>
          <p:cNvSpPr txBox="1"/>
          <p:nvPr/>
        </p:nvSpPr>
        <p:spPr>
          <a:xfrm>
            <a:off x="548640" y="2194560"/>
            <a:ext cx="5272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experiment. </a:t>
            </a:r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was assigned a late delivery at random; hidden factors can play a role.</a:t>
            </a:r>
            <a:endParaRPr lang="en-US" sz="1500" dirty="0"/>
          </a:p>
        </p:txBody>
      </p:sp>
      <p:sp>
        <p:nvSpPr>
          <p:cNvPr id="6" name="Text 159"/>
          <p:cNvSpPr txBox="1"/>
          <p:nvPr/>
        </p:nvSpPr>
        <p:spPr>
          <a:xfrm>
            <a:off x="548640" y="3154680"/>
            <a:ext cx="5272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 is sent around the promised date. </a:t>
            </a:r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customers are asked while still waiting, which sharpens the gap.</a:t>
            </a:r>
            <a:endParaRPr lang="en-US" sz="1500" dirty="0"/>
          </a:p>
        </p:txBody>
      </p:sp>
      <p:sp>
        <p:nvSpPr>
          <p:cNvPr id="7" name="Text 160"/>
          <p:cNvSpPr txBox="1"/>
          <p:nvPr/>
        </p:nvSpPr>
        <p:spPr>
          <a:xfrm>
            <a:off x="548640" y="4114800"/>
            <a:ext cx="5272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reviews, one coder. </a:t>
            </a:r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customers who wrote a comment are represented.</a:t>
            </a:r>
            <a:endParaRPr lang="en-US" sz="1500" dirty="0"/>
          </a:p>
        </p:txBody>
      </p:sp>
      <p:sp>
        <p:nvSpPr>
          <p:cNvPr id="8" name="Text 161"/>
          <p:cNvSpPr txBox="1"/>
          <p:nvPr/>
        </p:nvSpPr>
        <p:spPr>
          <a:xfrm>
            <a:off x="548640" y="5074920"/>
            <a:ext cx="5272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or commission data. </a:t>
            </a:r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is counted in reviews, not in money; no return on investment.</a:t>
            </a:r>
            <a:endParaRPr lang="en-US" sz="1500" dirty="0"/>
          </a:p>
        </p:txBody>
      </p:sp>
      <p:sp>
        <p:nvSpPr>
          <p:cNvPr id="9" name="Text 162"/>
          <p:cNvSpPr txBox="1"/>
          <p:nvPr/>
        </p:nvSpPr>
        <p:spPr>
          <a:xfrm>
            <a:off x="6370168" y="1783080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0" name="Badge 163"/>
          <p:cNvSpPr/>
          <p:nvPr/>
        </p:nvSpPr>
        <p:spPr>
          <a:xfrm>
            <a:off x="6370168" y="219456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164"/>
          <p:cNvSpPr txBox="1"/>
          <p:nvPr/>
        </p:nvSpPr>
        <p:spPr>
          <a:xfrm>
            <a:off x="6370168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65"/>
          <p:cNvSpPr txBox="1"/>
          <p:nvPr/>
        </p:nvSpPr>
        <p:spPr>
          <a:xfrm>
            <a:off x="6964528" y="2194560"/>
            <a:ext cx="467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several-item orders. </a:t>
            </a:r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missing part arrive later, or is it never sent? The fix differs.</a:t>
            </a:r>
            <a:endParaRPr lang="en-US" sz="1500" dirty="0"/>
          </a:p>
        </p:txBody>
      </p:sp>
      <p:sp>
        <p:nvSpPr>
          <p:cNvPr id="13" name="Badge 166"/>
          <p:cNvSpPr/>
          <p:nvPr/>
        </p:nvSpPr>
        <p:spPr>
          <a:xfrm>
            <a:off x="6370168" y="315468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67"/>
          <p:cNvSpPr txBox="1"/>
          <p:nvPr/>
        </p:nvSpPr>
        <p:spPr>
          <a:xfrm>
            <a:off x="6370168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68"/>
          <p:cNvSpPr txBox="1"/>
          <p:nvPr/>
        </p:nvSpPr>
        <p:spPr>
          <a:xfrm>
            <a:off x="6964528" y="3154680"/>
            <a:ext cx="467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proactive messages. </a:t>
            </a:r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half of at-risk orders gets a new date; compare the reviews.</a:t>
            </a:r>
            <a:endParaRPr lang="en-US" sz="1500" dirty="0"/>
          </a:p>
        </p:txBody>
      </p:sp>
      <p:sp>
        <p:nvSpPr>
          <p:cNvPr id="16" name="Badge 169"/>
          <p:cNvSpPr/>
          <p:nvPr/>
        </p:nvSpPr>
        <p:spPr>
          <a:xfrm>
            <a:off x="6370168" y="41148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70"/>
          <p:cNvSpPr txBox="1"/>
          <p:nvPr/>
        </p:nvSpPr>
        <p:spPr>
          <a:xfrm>
            <a:off x="6370168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71"/>
          <p:cNvSpPr txBox="1"/>
          <p:nvPr/>
        </p:nvSpPr>
        <p:spPr>
          <a:xfrm>
            <a:off x="6964528" y="4114800"/>
            <a:ext cx="467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carrier and cost data. </a:t>
            </a:r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rank routes by return, not only by late rate.</a:t>
            </a:r>
            <a:endParaRPr lang="en-US" sz="1500" dirty="0"/>
          </a:p>
        </p:txBody>
      </p:sp>
      <p:sp>
        <p:nvSpPr>
          <p:cNvPr id="19" name="Badge 172"/>
          <p:cNvSpPr/>
          <p:nvPr/>
        </p:nvSpPr>
        <p:spPr>
          <a:xfrm>
            <a:off x="6370168" y="507492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0" name="Text 173"/>
          <p:cNvSpPr txBox="1"/>
          <p:nvPr/>
        </p:nvSpPr>
        <p:spPr>
          <a:xfrm>
            <a:off x="6370168" y="5074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74"/>
          <p:cNvSpPr txBox="1"/>
          <p:nvPr/>
        </p:nvSpPr>
        <p:spPr>
          <a:xfrm>
            <a:off x="6964528" y="5074920"/>
            <a:ext cx="467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2,881 undelivered orders. </a:t>
            </a:r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15.0% of bad reviews and outside both scenarios.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 Deliveries, Lost Customers</dc:title>
  <dc:subject>Why Olist customers give bad reviews and what to fix first</dc:subject>
  <dc:creator>Kostiantyn Dolyna</dc:creator>
  <cp:lastModifiedBy>Kostiantyn Dolyna</cp:lastModifiedBy>
  <cp:revision>1</cp:revision>
  <dcterms:created xsi:type="dcterms:W3CDTF">2026-10-07T20:13:55Z</dcterms:created>
  <dcterms:modified xsi:type="dcterms:W3CDTF">2026-10-07T20:13:55Z</dcterms:modified>
</cp:coreProperties>
</file>